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779F0-B7EB-471A-9C05-A9FBBB14670A}" type="datetimeFigureOut">
              <a:rPr lang="fr-FR" smtClean="0"/>
              <a:t>28/04/2026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15DBBC-AC5F-4950-842C-47C011ED6BE1}" type="slidenum">
              <a:rPr lang="fr-FR" smtClean="0"/>
              <a:t>‹N°›</a:t>
            </a:fld>
            <a:endParaRPr lang="fr-FR"/>
          </a:p>
        </p:txBody>
      </p:sp>
    </p:spTree>
    <p:extLst>
      <p:ext uri="{BB962C8B-B14F-4D97-AF65-F5344CB8AC3E}">
        <p14:creationId xmlns:p14="http://schemas.microsoft.com/office/powerpoint/2010/main" val="106807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Bonjour, nous presentons notre projet de prediction du churn client. Le but est de detecter les clients qui risquent de partir, puis de transformer cette prediction en outil simple pour une equipe CRM.</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a:t>
            </a:fld>
            <a:endParaRPr lang="fr-FR"/>
          </a:p>
        </p:txBody>
      </p:sp>
    </p:spTree>
    <p:extLst>
      <p:ext uri="{BB962C8B-B14F-4D97-AF65-F5344CB8AC3E}">
        <p14:creationId xmlns:p14="http://schemas.microsoft.com/office/powerpoint/2010/main" val="1093393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probleme metier est la retention. Une entreprise perd du chiffre d affaires quand un client resilie. L idee est donc de reperer les clients fragiles avant leur depart, pour pouvoir les contacter en priorite.</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2</a:t>
            </a:fld>
            <a:endParaRPr lang="fr-FR"/>
          </a:p>
        </p:txBody>
      </p:sp>
    </p:spTree>
    <p:extLst>
      <p:ext uri="{BB962C8B-B14F-4D97-AF65-F5344CB8AC3E}">
        <p14:creationId xmlns:p14="http://schemas.microsoft.com/office/powerpoint/2010/main" val="2768956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sommes partis d un dataset de 10 000 clients. Il contient des informations de profil, de contrat, d usage, de paiement, de support et de satisfaction. La variable a predire est churn.</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3</a:t>
            </a:fld>
            <a:endParaRPr lang="fr-FR"/>
          </a:p>
        </p:txBody>
      </p:sp>
    </p:spTree>
    <p:extLst>
      <p:ext uri="{BB962C8B-B14F-4D97-AF65-F5344CB8AC3E}">
        <p14:creationId xmlns:p14="http://schemas.microsoft.com/office/powerpoint/2010/main" val="2765687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Pendant l EDA, nous avons remarque que la cible etait desequilibree. Il y a beaucoup plus de clients qui restent que de clients qui partent. Nous avons aussi vu que le churn depend de plusieurs signaux faibles, pas d une seule variable evidente.</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4</a:t>
            </a:fld>
            <a:endParaRPr lang="fr-FR"/>
          </a:p>
        </p:txBody>
      </p:sp>
    </p:spTree>
    <p:extLst>
      <p:ext uri="{BB962C8B-B14F-4D97-AF65-F5344CB8AC3E}">
        <p14:creationId xmlns:p14="http://schemas.microsoft.com/office/powerpoint/2010/main" val="1534881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premiere lecon est que l accuracy ne suffit pas. Un modele peut avoir une bonne accuracy simplement parce qu il predit souvent que le client reste. Pour notre sujet, ce serait inutile si le modele rate les vrais churners.</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5</a:t>
            </a:fld>
            <a:endParaRPr lang="fr-FR"/>
          </a:p>
        </p:txBody>
      </p:sp>
    </p:spTree>
    <p:extLst>
      <p:ext uri="{BB962C8B-B14F-4D97-AF65-F5344CB8AC3E}">
        <p14:creationId xmlns:p14="http://schemas.microsoft.com/office/powerpoint/2010/main" val="2231834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avons donc choisi le recall comme metrique principale. Le recall mesure la proportion de vrais churners detectes par le modele. Dans un contexte de retention, rater un client a risque est plus grave que contacter un client en trop.</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6</a:t>
            </a:fld>
            <a:endParaRPr lang="fr-FR"/>
          </a:p>
        </p:txBody>
      </p:sp>
    </p:spTree>
    <p:extLst>
      <p:ext uri="{BB962C8B-B14F-4D97-AF65-F5344CB8AC3E}">
        <p14:creationId xmlns:p14="http://schemas.microsoft.com/office/powerpoint/2010/main" val="2753660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projet a avance par etapes. Nous avons commence par explorer les donnees, puis nettoyer les valeurs manquantes. Ensuite nous avons cree des variables metier, compare plusieurs modeles, et enfin construit le dashboard.</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7</a:t>
            </a:fld>
            <a:endParaRPr lang="fr-FR"/>
          </a:p>
        </p:txBody>
      </p:sp>
    </p:spTree>
    <p:extLst>
      <p:ext uri="{BB962C8B-B14F-4D97-AF65-F5344CB8AC3E}">
        <p14:creationId xmlns:p14="http://schemas.microsoft.com/office/powerpoint/2010/main" val="3868992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Au debut, les variables etaient trop brutes. Nous avons donc cree des indicateurs plus lisibles pour les modeles, comme le risque paiement, la faible satisfaction, l inactivite et la pression support.</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8</a:t>
            </a:fld>
            <a:endParaRPr lang="fr-FR"/>
          </a:p>
        </p:txBody>
      </p:sp>
    </p:spTree>
    <p:extLst>
      <p:ext uri="{BB962C8B-B14F-4D97-AF65-F5344CB8AC3E}">
        <p14:creationId xmlns:p14="http://schemas.microsoft.com/office/powerpoint/2010/main" val="1030414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variables metier ajoutent du sens. Par exemple has_complaint indique s il y a eu une plainte, payment_risk regroupe les problemes de paiement ou hausse de prix, engagement_score resume l activite, et satisfaction_score resume la satisfaction.</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9</a:t>
            </a:fld>
            <a:endParaRPr lang="fr-FR"/>
          </a:p>
        </p:txBody>
      </p:sp>
    </p:spTree>
    <p:extLst>
      <p:ext uri="{BB962C8B-B14F-4D97-AF65-F5344CB8AC3E}">
        <p14:creationId xmlns:p14="http://schemas.microsoft.com/office/powerpoint/2010/main" val="4276764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Ces variables aident parce qu elles suivent une logique CRM simple. Un client inactif, insatisfait, avec des problemes de paiement ou beaucoup de support est plus fragile. Le modele dispose donc de signaux plus clairs.</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10</a:t>
            </a:fld>
            <a:endParaRPr lang="fr-FR"/>
          </a:p>
        </p:txBody>
      </p:sp>
    </p:spTree>
    <p:extLst>
      <p:ext uri="{BB962C8B-B14F-4D97-AF65-F5344CB8AC3E}">
        <p14:creationId xmlns:p14="http://schemas.microsoft.com/office/powerpoint/2010/main" val="3465826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avons teste quatre modeles pour comparer plusieurs familles d algorithmes. La regression logistique sert de baseline simple, Random Forest et XGBoost testent les modeles d arbres, et le MLP repond a la partie Deep Learning de la consigne.</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11</a:t>
            </a:fld>
            <a:endParaRPr lang="fr-FR"/>
          </a:p>
        </p:txBody>
      </p:sp>
    </p:spTree>
    <p:extLst>
      <p:ext uri="{BB962C8B-B14F-4D97-AF65-F5344CB8AC3E}">
        <p14:creationId xmlns:p14="http://schemas.microsoft.com/office/powerpoint/2010/main" val="1940880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Tous les modeles ne demandent pas le meme preprocessing. La regression logistique et le MLP ont besoin de standardisation, car ils sont sensibles aux echelles. Random Forest et XGBoost n en ont pas vraiment besoin car ils fonctionnent avec des seuils.</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12</a:t>
            </a:fld>
            <a:endParaRPr lang="fr-FR"/>
          </a:p>
        </p:txBody>
      </p:sp>
    </p:spTree>
    <p:extLst>
      <p:ext uri="{BB962C8B-B14F-4D97-AF65-F5344CB8AC3E}">
        <p14:creationId xmlns:p14="http://schemas.microsoft.com/office/powerpoint/2010/main" val="1691770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Comme le dataset est desequilibre, nous avons donne plus de poids a la classe churn. Cela evite que le modele ignore les clients qui partent. Nous avons utilise class_weight pour certains modeles et scale_pos_weight pour XGBoost.</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13</a:t>
            </a:fld>
            <a:endParaRPr lang="fr-FR"/>
          </a:p>
        </p:txBody>
      </p:sp>
    </p:spTree>
    <p:extLst>
      <p:ext uri="{BB962C8B-B14F-4D97-AF65-F5344CB8AC3E}">
        <p14:creationId xmlns:p14="http://schemas.microsoft.com/office/powerpoint/2010/main" val="2190547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Voici les resultats principaux au seuil fixe 0.35. La regression logistique obtient le meilleur recall avec 0.882. XGBoost et Random Forest sont meilleurs sur certaines metriques, mais detectent un peu moins de churners.</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14</a:t>
            </a:fld>
            <a:endParaRPr lang="fr-FR"/>
          </a:p>
        </p:txBody>
      </p:sp>
    </p:spTree>
    <p:extLst>
      <p:ext uri="{BB962C8B-B14F-4D97-AF65-F5344CB8AC3E}">
        <p14:creationId xmlns:p14="http://schemas.microsoft.com/office/powerpoint/2010/main" val="967377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avons retenu la regression logistique parce que notre priorite est le recall. Elle detecte le plus de churners, elle est simple a expliquer, et elle est defendable pour une presentation. Sa limite est une precision faible, donc plus de fausses alertes.</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15</a:t>
            </a:fld>
            <a:endParaRPr lang="fr-FR"/>
          </a:p>
        </p:txBody>
      </p:sp>
    </p:spTree>
    <p:extLst>
      <p:ext uri="{BB962C8B-B14F-4D97-AF65-F5344CB8AC3E}">
        <p14:creationId xmlns:p14="http://schemas.microsoft.com/office/powerpoint/2010/main" val="535081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dashboard permet de rendre le projet utilisable. Il affiche les KPI, le revenu a risque, une simulation client, la comparaison des modeles et une partie explicabilite. L objectif est de passer du modele a une aide a la decision.</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16</a:t>
            </a:fld>
            <a:endParaRPr lang="fr-FR"/>
          </a:p>
        </p:txBody>
      </p:sp>
    </p:spTree>
    <p:extLst>
      <p:ext uri="{BB962C8B-B14F-4D97-AF65-F5344CB8AC3E}">
        <p14:creationId xmlns:p14="http://schemas.microsoft.com/office/powerpoint/2010/main" val="3387524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 qu on retient, c est que le projet a evolue par iterations. On ne s est pas contente d entrainer un modele. On a compris les donnees, choisi la bonne metrique, adapte la preparation et construit un outil final.</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17</a:t>
            </a:fld>
            <a:endParaRPr lang="fr-FR"/>
          </a:p>
        </p:txBody>
      </p:sp>
    </p:spTree>
    <p:extLst>
      <p:ext uri="{BB962C8B-B14F-4D97-AF65-F5344CB8AC3E}">
        <p14:creationId xmlns:p14="http://schemas.microsoft.com/office/powerpoint/2010/main" val="890431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conclure, nous avons suivi un cycle complet de projet Data Science : EDA, preprocessing, modelisation, evaluation et dashboard. Le modele final detecte environ 88 pour cent des churners, ce qui correspond a notre objectif de retention.</a:t>
            </a:r>
          </a:p>
        </p:txBody>
      </p:sp>
      <p:sp>
        <p:nvSpPr>
          <p:cNvPr id="4" name="Espace réservé du numéro de diapositive 3"/>
          <p:cNvSpPr>
            <a:spLocks noGrp="1"/>
          </p:cNvSpPr>
          <p:nvPr>
            <p:ph type="sldNum" sz="quarter" idx="5"/>
          </p:nvPr>
        </p:nvSpPr>
        <p:spPr/>
        <p:txBody>
          <a:bodyPr/>
          <a:lstStyle/>
          <a:p>
            <a:fld id="{9B15DBBC-AC5F-4950-842C-47C011ED6BE1}" type="slidenum">
              <a:rPr lang="fr-FR" smtClean="0"/>
              <a:t>18</a:t>
            </a:fld>
            <a:endParaRPr lang="fr-FR"/>
          </a:p>
        </p:txBody>
      </p:sp>
    </p:spTree>
    <p:extLst>
      <p:ext uri="{BB962C8B-B14F-4D97-AF65-F5344CB8AC3E}">
        <p14:creationId xmlns:p14="http://schemas.microsoft.com/office/powerpoint/2010/main" val="3099201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Prediction du churn client</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Projet retention client</a:t>
            </a:r>
          </a:p>
          <a:p>
            <a:pPr>
              <a:spcAft>
                <a:spcPts val="1200"/>
              </a:spcAft>
              <a:defRPr sz="2200">
                <a:solidFill>
                  <a:srgbClr val="374151"/>
                </a:solidFill>
              </a:defRPr>
            </a:pPr>
            <a:r>
              <a:t>- Objectif : detecter les clients qui risquent de partir</a:t>
            </a:r>
          </a:p>
          <a:p>
            <a:pPr>
              <a:spcAft>
                <a:spcPts val="1200"/>
              </a:spcAft>
              <a:defRPr sz="2200">
                <a:solidFill>
                  <a:srgbClr val="374151"/>
                </a:solidFill>
              </a:defRPr>
            </a:pPr>
            <a:r>
              <a:t>- Approche : donnees, modeles, dashboard</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Le probleme metier</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Une entreprise perd du revenu quand un client resilie</a:t>
            </a:r>
          </a:p>
          <a:p>
            <a:pPr>
              <a:spcAft>
                <a:spcPts val="1200"/>
              </a:spcAft>
              <a:defRPr sz="2200">
                <a:solidFill>
                  <a:srgbClr val="374151"/>
                </a:solidFill>
              </a:defRPr>
            </a:pPr>
            <a:r>
              <a:t>- Le service CRM doit savoir qui contacter en priorite</a:t>
            </a:r>
          </a:p>
          <a:p>
            <a:pPr>
              <a:spcAft>
                <a:spcPts val="1200"/>
              </a:spcAft>
              <a:defRPr sz="2200">
                <a:solidFill>
                  <a:srgbClr val="374151"/>
                </a:solidFill>
              </a:defRPr>
            </a:pPr>
            <a:r>
              <a:t>- Notre modele sert a anticiper le risque de churn</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Notre point de depart</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Dataset de 10 000 clients</a:t>
            </a:r>
          </a:p>
          <a:p>
            <a:pPr>
              <a:spcAft>
                <a:spcPts val="1200"/>
              </a:spcAft>
              <a:defRPr sz="2200">
                <a:solidFill>
                  <a:srgbClr val="374151"/>
                </a:solidFill>
              </a:defRPr>
            </a:pPr>
            <a:r>
              <a:t>- Variables : profil, contrat, usage, paiement, support, satisfaction</a:t>
            </a:r>
          </a:p>
          <a:p>
            <a:pPr>
              <a:spcAft>
                <a:spcPts val="1200"/>
              </a:spcAft>
              <a:defRPr sz="2200">
                <a:solidFill>
                  <a:srgbClr val="374151"/>
                </a:solidFill>
              </a:defRPr>
            </a:pPr>
            <a:r>
              <a:t>- Cible : churn, avec 0 = reste et 1 = part</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Ce qu on a vu pendant l EDA</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La cible est desequilibree : environ 10 % de churners</a:t>
            </a:r>
          </a:p>
          <a:p>
            <a:pPr>
              <a:spcAft>
                <a:spcPts val="1200"/>
              </a:spcAft>
              <a:defRPr sz="2200">
                <a:solidFill>
                  <a:srgbClr val="374151"/>
                </a:solidFill>
              </a:defRPr>
            </a:pPr>
            <a:r>
              <a:t>- Les variables seules ne suffisent pas toujours</a:t>
            </a:r>
          </a:p>
          <a:p>
            <a:pPr>
              <a:spcAft>
                <a:spcPts val="1200"/>
              </a:spcAft>
              <a:defRPr sz="2200">
                <a:solidFill>
                  <a:srgbClr val="374151"/>
                </a:solidFill>
              </a:defRPr>
            </a:pPr>
            <a:r>
              <a:t>- Le risque semble lie a plusieurs signaux faibles</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Premiere lecon</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L accuracy ne suffit pas</a:t>
            </a:r>
          </a:p>
          <a:p>
            <a:pPr>
              <a:spcAft>
                <a:spcPts val="1200"/>
              </a:spcAft>
              <a:defRPr sz="2200">
                <a:solidFill>
                  <a:srgbClr val="374151"/>
                </a:solidFill>
              </a:defRPr>
            </a:pPr>
            <a:r>
              <a:t>- Un modele peut avoir une bonne accuracy en predisant surtout que les clients restent</a:t>
            </a:r>
          </a:p>
          <a:p>
            <a:pPr>
              <a:spcAft>
                <a:spcPts val="1200"/>
              </a:spcAft>
              <a:defRPr sz="2200">
                <a:solidFill>
                  <a:srgbClr val="374151"/>
                </a:solidFill>
              </a:defRPr>
            </a:pPr>
            <a:r>
              <a:t>- Pour nous, le plus important est de detecter les vrais churners</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Notre metrique principale</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Nous avons choisi le recall</a:t>
            </a:r>
          </a:p>
          <a:p>
            <a:pPr>
              <a:spcAft>
                <a:spcPts val="1200"/>
              </a:spcAft>
              <a:defRPr sz="2200">
                <a:solidFill>
                  <a:srgbClr val="374151"/>
                </a:solidFill>
              </a:defRPr>
            </a:pPr>
            <a:r>
              <a:t>- Recall = parmi les clients qui partent vraiment, combien sont detectes</a:t>
            </a:r>
          </a:p>
          <a:p>
            <a:pPr>
              <a:spcAft>
                <a:spcPts val="1200"/>
              </a:spcAft>
              <a:defRPr sz="2200">
                <a:solidFill>
                  <a:srgbClr val="374151"/>
                </a:solidFill>
              </a:defRPr>
            </a:pPr>
            <a:r>
              <a:t>- C est coherent avec un objectif de retention</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Comment on a avance</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- 1. Explorer les donnees</a:t>
            </a:r>
          </a:p>
          <a:p>
            <a:pPr>
              <a:spcAft>
                <a:spcPts val="1200"/>
              </a:spcAft>
              <a:defRPr sz="2200">
                <a:solidFill>
                  <a:srgbClr val="374151"/>
                </a:solidFill>
              </a:defRPr>
            </a:pPr>
            <a:r>
              <a:t>- 2. Nettoyer les valeurs manquantes</a:t>
            </a:r>
          </a:p>
          <a:p>
            <a:pPr>
              <a:spcAft>
                <a:spcPts val="1200"/>
              </a:spcAft>
              <a:defRPr sz="2200">
                <a:solidFill>
                  <a:srgbClr val="374151"/>
                </a:solidFill>
              </a:defRPr>
            </a:pPr>
            <a:r>
              <a:t>- 3. Creer des variables metier</a:t>
            </a:r>
          </a:p>
          <a:p>
            <a:pPr>
              <a:spcAft>
                <a:spcPts val="1200"/>
              </a:spcAft>
              <a:defRPr sz="2200">
                <a:solidFill>
                  <a:srgbClr val="374151"/>
                </a:solidFill>
              </a:defRPr>
            </a:pPr>
            <a:r>
              <a:t>- 4. Comparer plusieurs modeles</a:t>
            </a:r>
          </a:p>
          <a:p>
            <a:pPr>
              <a:spcAft>
                <a:spcPts val="1200"/>
              </a:spcAft>
              <a:defRPr sz="2200">
                <a:solidFill>
                  <a:srgbClr val="374151"/>
                </a:solidFill>
              </a:defRPr>
            </a:pPr>
            <a:r>
              <a:t>- 5. Construire un dashboard</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Ce qu on a ameliore</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Au debut, les variables etaient trop brutes</a:t>
            </a:r>
          </a:p>
          <a:p>
            <a:pPr>
              <a:spcAft>
                <a:spcPts val="1200"/>
              </a:spcAft>
              <a:defRPr sz="2200">
                <a:solidFill>
                  <a:srgbClr val="374151"/>
                </a:solidFill>
              </a:defRPr>
            </a:pPr>
            <a:r>
              <a:t>- Nous avons cree des indicateurs plus lisibles</a:t>
            </a:r>
          </a:p>
          <a:p>
            <a:pPr>
              <a:spcAft>
                <a:spcPts val="1200"/>
              </a:spcAft>
              <a:defRPr sz="2200">
                <a:solidFill>
                  <a:srgbClr val="374151"/>
                </a:solidFill>
              </a:defRPr>
            </a:pPr>
            <a:r>
              <a:t>- Exemples : risque paiement, faible satisfaction, inactivite, pression support</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Variables metier creees</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has_complaint : le client a deja eu une plainte</a:t>
            </a:r>
          </a:p>
          <a:p>
            <a:pPr>
              <a:spcAft>
                <a:spcPts val="1200"/>
              </a:spcAft>
              <a:defRPr sz="2200">
                <a:solidFill>
                  <a:srgbClr val="374151"/>
                </a:solidFill>
              </a:defRPr>
            </a:pPr>
            <a:r>
              <a:t>- payment_risk : paiement en echec ou hausse de prix</a:t>
            </a:r>
          </a:p>
          <a:p>
            <a:pPr>
              <a:spcAft>
                <a:spcPts val="1200"/>
              </a:spcAft>
              <a:defRPr sz="2200">
                <a:solidFill>
                  <a:srgbClr val="374151"/>
                </a:solidFill>
              </a:defRPr>
            </a:pPr>
            <a:r>
              <a:t>- engagement_score : niveau d activite du client</a:t>
            </a:r>
          </a:p>
          <a:p>
            <a:pPr>
              <a:spcAft>
                <a:spcPts val="1200"/>
              </a:spcAft>
              <a:defRPr sz="2200">
                <a:solidFill>
                  <a:srgbClr val="374151"/>
                </a:solidFill>
              </a:defRPr>
            </a:pPr>
            <a:r>
              <a:t>- satisfaction_score : satisfaction globale simplifiee</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Pourquoi ces variables aident</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Elles traduisent une logique CRM simple</a:t>
            </a:r>
          </a:p>
          <a:p>
            <a:pPr>
              <a:spcAft>
                <a:spcPts val="1200"/>
              </a:spcAft>
              <a:defRPr sz="2200">
                <a:solidFill>
                  <a:srgbClr val="374151"/>
                </a:solidFill>
              </a:defRPr>
            </a:pPr>
            <a:r>
              <a:t>- Un client inactif ou insatisfait est plus fragile</a:t>
            </a:r>
          </a:p>
          <a:p>
            <a:pPr>
              <a:spcAft>
                <a:spcPts val="1200"/>
              </a:spcAft>
              <a:defRPr sz="2200">
                <a:solidFill>
                  <a:srgbClr val="374151"/>
                </a:solidFill>
              </a:defRPr>
            </a:pPr>
            <a:r>
              <a:t>- Un client avec problemes de support ou paiement peut etre prioritaire</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Modeles testes</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Logistic Regression : modele simple et interpretable</a:t>
            </a:r>
          </a:p>
          <a:p>
            <a:pPr>
              <a:spcAft>
                <a:spcPts val="1200"/>
              </a:spcAft>
              <a:defRPr sz="2200">
                <a:solidFill>
                  <a:srgbClr val="374151"/>
                </a:solidFill>
              </a:defRPr>
            </a:pPr>
            <a:r>
              <a:t>- Random Forest : modele robuste base sur des arbres</a:t>
            </a:r>
          </a:p>
          <a:p>
            <a:pPr>
              <a:spcAft>
                <a:spcPts val="1200"/>
              </a:spcAft>
              <a:defRPr sz="2200">
                <a:solidFill>
                  <a:srgbClr val="374151"/>
                </a:solidFill>
              </a:defRPr>
            </a:pPr>
            <a:r>
              <a:t>- XGBoost : modele performant sur donnees tabulaires</a:t>
            </a:r>
          </a:p>
          <a:p>
            <a:pPr>
              <a:spcAft>
                <a:spcPts val="1200"/>
              </a:spcAft>
              <a:defRPr sz="2200">
                <a:solidFill>
                  <a:srgbClr val="374151"/>
                </a:solidFill>
              </a:defRPr>
            </a:pPr>
            <a:r>
              <a:t>- MLP : modele Deep Learning demande par la consigne</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Preprocessing selon le modele</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Logistic Regression et MLP : standardisation utile</a:t>
            </a:r>
          </a:p>
          <a:p>
            <a:pPr>
              <a:spcAft>
                <a:spcPts val="1200"/>
              </a:spcAft>
              <a:defRPr sz="2200">
                <a:solidFill>
                  <a:srgbClr val="374151"/>
                </a:solidFill>
              </a:defRPr>
            </a:pPr>
            <a:r>
              <a:t>- Random Forest et XGBoost : pas besoin de standardiser</a:t>
            </a:r>
          </a:p>
          <a:p>
            <a:pPr>
              <a:spcAft>
                <a:spcPts val="1200"/>
              </a:spcAft>
              <a:defRPr sz="2200">
                <a:solidFill>
                  <a:srgbClr val="374151"/>
                </a:solidFill>
              </a:defRPr>
            </a:pPr>
            <a:r>
              <a:t>- Pipelines separes pour eviter le data leakage</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Gestion du desequilibre</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Nous avons donne plus de poids a la classe churn</a:t>
            </a:r>
          </a:p>
          <a:p>
            <a:pPr>
              <a:spcAft>
                <a:spcPts val="1200"/>
              </a:spcAft>
              <a:defRPr sz="2200">
                <a:solidFill>
                  <a:srgbClr val="374151"/>
                </a:solidFill>
              </a:defRPr>
            </a:pPr>
            <a:r>
              <a:t>- But : eviter que le modele ignore les clients qui partent</a:t>
            </a:r>
          </a:p>
          <a:p>
            <a:pPr>
              <a:spcAft>
                <a:spcPts val="1200"/>
              </a:spcAft>
              <a:defRPr sz="2200">
                <a:solidFill>
                  <a:srgbClr val="374151"/>
                </a:solidFill>
              </a:defRPr>
            </a:pPr>
            <a:r>
              <a:t>- Approche simple a expliquer : class_weight ou scale_pos_weight</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Resultats au seuil fixe 0.35</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Logistic Regression : recall 0.882</a:t>
            </a:r>
          </a:p>
          <a:p>
            <a:pPr>
              <a:spcAft>
                <a:spcPts val="1200"/>
              </a:spcAft>
              <a:defRPr sz="2200">
                <a:solidFill>
                  <a:srgbClr val="374151"/>
                </a:solidFill>
              </a:defRPr>
            </a:pPr>
            <a:r>
              <a:t>- XGBoost : recall 0.843</a:t>
            </a:r>
          </a:p>
          <a:p>
            <a:pPr>
              <a:spcAft>
                <a:spcPts val="1200"/>
              </a:spcAft>
              <a:defRPr sz="2200">
                <a:solidFill>
                  <a:srgbClr val="374151"/>
                </a:solidFill>
              </a:defRPr>
            </a:pPr>
            <a:r>
              <a:t>- Random Forest : recall 0.809</a:t>
            </a:r>
          </a:p>
          <a:p>
            <a:pPr>
              <a:spcAft>
                <a:spcPts val="1200"/>
              </a:spcAft>
              <a:defRPr sz="2200">
                <a:solidFill>
                  <a:srgbClr val="374151"/>
                </a:solidFill>
              </a:defRPr>
            </a:pPr>
            <a:r>
              <a:t>- MLP : recall 0.353</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Choix final</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Modele retenu : Logistic Regression</a:t>
            </a:r>
          </a:p>
          <a:p>
            <a:pPr>
              <a:spcAft>
                <a:spcPts val="1200"/>
              </a:spcAft>
              <a:defRPr sz="2200">
                <a:solidFill>
                  <a:srgbClr val="374151"/>
                </a:solidFill>
              </a:defRPr>
            </a:pPr>
            <a:r>
              <a:t>- Raison principale : meilleur recall</a:t>
            </a:r>
          </a:p>
          <a:p>
            <a:pPr>
              <a:spcAft>
                <a:spcPts val="1200"/>
              </a:spcAft>
              <a:defRPr sz="2200">
                <a:solidFill>
                  <a:srgbClr val="374151"/>
                </a:solidFill>
              </a:defRPr>
            </a:pPr>
            <a:r>
              <a:t>- Avantage : modele simple, clair et defendable</a:t>
            </a:r>
          </a:p>
          <a:p>
            <a:pPr>
              <a:spcAft>
                <a:spcPts val="1200"/>
              </a:spcAft>
              <a:defRPr sz="2200">
                <a:solidFill>
                  <a:srgbClr val="374151"/>
                </a:solidFill>
              </a:defRPr>
            </a:pPr>
            <a:r>
              <a:t>- Limite : precision faible, donc plus de fausses alertes</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Dashboard final</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Vue metier : KPI et revenu a risque</a:t>
            </a:r>
          </a:p>
          <a:p>
            <a:pPr>
              <a:spcAft>
                <a:spcPts val="1200"/>
              </a:spcAft>
              <a:defRPr sz="2200">
                <a:solidFill>
                  <a:srgbClr val="374151"/>
                </a:solidFill>
              </a:defRPr>
            </a:pPr>
            <a:r>
              <a:t>- Simulation client : tester un profil</a:t>
            </a:r>
          </a:p>
          <a:p>
            <a:pPr>
              <a:spcAft>
                <a:spcPts val="1200"/>
              </a:spcAft>
              <a:defRPr sz="2200">
                <a:solidFill>
                  <a:srgbClr val="374151"/>
                </a:solidFill>
              </a:defRPr>
            </a:pPr>
            <a:r>
              <a:t>- Comparaison modeles : voir les scores</a:t>
            </a:r>
          </a:p>
          <a:p>
            <a:pPr>
              <a:spcAft>
                <a:spcPts val="1200"/>
              </a:spcAft>
              <a:defRPr sz="2200">
                <a:solidFill>
                  <a:srgbClr val="374151"/>
                </a:solidFill>
              </a:defRPr>
            </a:pPr>
            <a:r>
              <a:t>- Explicabilite : variables importantes</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Ce qu on retient</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Le projet a evolue par iterations</a:t>
            </a:r>
          </a:p>
          <a:p>
            <a:pPr>
              <a:spcAft>
                <a:spcPts val="1200"/>
              </a:spcAft>
              <a:defRPr sz="2200">
                <a:solidFill>
                  <a:srgbClr val="374151"/>
                </a:solidFill>
              </a:defRPr>
            </a:pPr>
            <a:r>
              <a:t>- Le plus important n etait pas juste d entrainer un modele</a:t>
            </a:r>
          </a:p>
          <a:p>
            <a:pPr>
              <a:spcAft>
                <a:spcPts val="1200"/>
              </a:spcAft>
              <a:defRPr sz="2200">
                <a:solidFill>
                  <a:srgbClr val="374151"/>
                </a:solidFill>
              </a:defRPr>
            </a:pPr>
            <a:r>
              <a:t>- Il fallait comprendre les donnees, choisir la bonne metrique et rendre le resultat utilisable</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972800" cy="731520"/>
          </a:xfrm>
          <a:prstGeom prst="rect">
            <a:avLst/>
          </a:prstGeom>
          <a:noFill/>
        </p:spPr>
        <p:txBody>
          <a:bodyPr wrap="none">
            <a:spAutoFit/>
          </a:bodyPr>
          <a:lstStyle/>
          <a:p>
            <a:pPr>
              <a:defRPr sz="3200" b="1">
                <a:solidFill>
                  <a:srgbClr val="111827"/>
                </a:solidFill>
              </a:defRPr>
            </a:pPr>
            <a:r>
              <a:t>Conclusion</a:t>
            </a:r>
          </a:p>
        </p:txBody>
      </p:sp>
      <p:sp>
        <p:nvSpPr>
          <p:cNvPr id="3" name="Rectangle 2"/>
          <p:cNvSpPr/>
          <p:nvPr/>
        </p:nvSpPr>
        <p:spPr>
          <a:xfrm>
            <a:off x="640080" y="1143000"/>
            <a:ext cx="10881360" cy="2743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508760"/>
            <a:ext cx="10424160" cy="4480560"/>
          </a:xfrm>
          <a:prstGeom prst="rect">
            <a:avLst/>
          </a:prstGeom>
          <a:noFill/>
        </p:spPr>
        <p:txBody>
          <a:bodyPr wrap="none">
            <a:spAutoFit/>
          </a:bodyPr>
          <a:lstStyle/>
          <a:p>
            <a:pPr>
              <a:spcAft>
                <a:spcPts val="1200"/>
              </a:spcAft>
              <a:defRPr sz="2200">
                <a:solidFill>
                  <a:srgbClr val="374151"/>
                </a:solidFill>
              </a:defRPr>
            </a:pPr>
            <a:r>
              <a:t>- Cycle complet : EDA, preprocessing, modelisation, evaluation, dashboard</a:t>
            </a:r>
          </a:p>
          <a:p>
            <a:pPr>
              <a:spcAft>
                <a:spcPts val="1200"/>
              </a:spcAft>
              <a:defRPr sz="2200">
                <a:solidFill>
                  <a:srgbClr val="374151"/>
                </a:solidFill>
              </a:defRPr>
            </a:pPr>
            <a:r>
              <a:t>- Le modele detecte environ 88 % des churners</a:t>
            </a:r>
          </a:p>
          <a:p>
            <a:pPr>
              <a:spcAft>
                <a:spcPts val="1200"/>
              </a:spcAft>
              <a:defRPr sz="2200">
                <a:solidFill>
                  <a:srgbClr val="374151"/>
                </a:solidFill>
              </a:defRPr>
            </a:pPr>
            <a:r>
              <a:t>- Le projet sert a prioriser les actions de retention</a:t>
            </a:r>
          </a:p>
        </p:txBody>
      </p:sp>
      <p:sp>
        <p:nvSpPr>
          <p:cNvPr id="5" name="TextBox 4"/>
          <p:cNvSpPr txBox="1"/>
          <p:nvPr/>
        </p:nvSpPr>
        <p:spPr>
          <a:xfrm>
            <a:off x="640080" y="6400800"/>
            <a:ext cx="2743200" cy="274320"/>
          </a:xfrm>
          <a:prstGeom prst="rect">
            <a:avLst/>
          </a:prstGeom>
          <a:noFill/>
        </p:spPr>
        <p:txBody>
          <a:bodyPr wrap="none">
            <a:spAutoFit/>
          </a:bodyPr>
          <a:lstStyle/>
          <a:p>
            <a:pPr>
              <a:defRPr sz="1000">
                <a:solidFill>
                  <a:srgbClr val="6B7280"/>
                </a:solidFill>
              </a:defRPr>
            </a:pPr>
            <a:r>
              <a:t>Slide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709</Words>
  <Application>Microsoft Office PowerPoint</Application>
  <PresentationFormat>Grand écran</PresentationFormat>
  <Paragraphs>133</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Amina MEDJDOUB</cp:lastModifiedBy>
  <cp:revision>3</cp:revision>
  <dcterms:created xsi:type="dcterms:W3CDTF">2013-01-27T09:14:16Z</dcterms:created>
  <dcterms:modified xsi:type="dcterms:W3CDTF">2026-04-28T17:25:51Z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e7dfc5-2bf4-4a75-8664-2dc4b3bb1d09_Enabled">
    <vt:lpwstr>true</vt:lpwstr>
  </property>
  <property fmtid="{D5CDD505-2E9C-101B-9397-08002B2CF9AE}" pid="3" name="MSIP_Label_47e7dfc5-2bf4-4a75-8664-2dc4b3bb1d09_SetDate">
    <vt:lpwstr>2026-04-28T17:24:45Z</vt:lpwstr>
  </property>
  <property fmtid="{D5CDD505-2E9C-101B-9397-08002B2CF9AE}" pid="4" name="MSIP_Label_47e7dfc5-2bf4-4a75-8664-2dc4b3bb1d09_Method">
    <vt:lpwstr>Standard</vt:lpwstr>
  </property>
  <property fmtid="{D5CDD505-2E9C-101B-9397-08002B2CF9AE}" pid="5" name="MSIP_Label_47e7dfc5-2bf4-4a75-8664-2dc4b3bb1d09_Name">
    <vt:lpwstr>defa4170-0d19-0005-0004-bc88714345d2</vt:lpwstr>
  </property>
  <property fmtid="{D5CDD505-2E9C-101B-9397-08002B2CF9AE}" pid="6" name="MSIP_Label_47e7dfc5-2bf4-4a75-8664-2dc4b3bb1d09_SiteId">
    <vt:lpwstr>413600cf-bd4e-4c7c-8a61-69e73cddf731</vt:lpwstr>
  </property>
  <property fmtid="{D5CDD505-2E9C-101B-9397-08002B2CF9AE}" pid="7" name="MSIP_Label_47e7dfc5-2bf4-4a75-8664-2dc4b3bb1d09_ActionId">
    <vt:lpwstr>dc6fe6dc-5924-46f5-9321-5eb48f97e7fa</vt:lpwstr>
  </property>
  <property fmtid="{D5CDD505-2E9C-101B-9397-08002B2CF9AE}" pid="8" name="MSIP_Label_47e7dfc5-2bf4-4a75-8664-2dc4b3bb1d09_ContentBits">
    <vt:lpwstr>0</vt:lpwstr>
  </property>
  <property fmtid="{D5CDD505-2E9C-101B-9397-08002B2CF9AE}" pid="9" name="MSIP_Label_47e7dfc5-2bf4-4a75-8664-2dc4b3bb1d09_Tag">
    <vt:lpwstr>10, 3, 0, 1</vt:lpwstr>
  </property>
</Properties>
</file>